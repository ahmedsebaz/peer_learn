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677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674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79992" y="-1828800"/>
            <a:ext cx="5120640" cy="5120640"/>
          </a:xfrm>
          <a:prstGeom prst="ellipse">
            <a:avLst/>
          </a:prstGeom>
          <a:solidFill>
            <a:srgbClr val="161C4D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274552" y="4846320"/>
            <a:ext cx="2926080" cy="2926080"/>
          </a:xfrm>
          <a:prstGeom prst="ellipse">
            <a:avLst/>
          </a:prstGeom>
          <a:solidFill>
            <a:srgbClr val="5B7FDE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394960"/>
            <a:ext cx="2743200" cy="2743200"/>
          </a:xfrm>
          <a:prstGeom prst="ellipse">
            <a:avLst/>
          </a:prstGeom>
          <a:solidFill>
            <a:srgbClr val="5B7FDE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 PRESENTATION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Sign Language Recognition System Using Deep Learning for Bridging Communication Between Deaf and Hearing Individuals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6720840" cy="2834640"/>
          </a:xfrm>
          <a:prstGeom prst="roundRect">
            <a:avLst>
              <a:gd name="adj" fmla="val 3871"/>
            </a:avLst>
          </a:prstGeom>
          <a:solidFill>
            <a:srgbClr val="F4F6F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3101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76732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Anika Zaman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63440" y="376732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24524203099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4224528"/>
            <a:ext cx="5989320" cy="0"/>
          </a:xfrm>
          <a:prstGeom prst="line">
            <a:avLst/>
          </a:prstGeom>
          <a:noFill/>
          <a:ln w="9525">
            <a:solidFill>
              <a:srgbClr val="D8DE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31596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Dhruba Singh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63440" y="431596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24524203147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4773168"/>
            <a:ext cx="5989320" cy="0"/>
          </a:xfrm>
          <a:prstGeom prst="line">
            <a:avLst/>
          </a:prstGeom>
          <a:noFill/>
          <a:ln w="9525">
            <a:solidFill>
              <a:srgbClr val="D8DE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86460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Faisal Mahmud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63440" y="486460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24524203053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" y="5321808"/>
            <a:ext cx="5989320" cy="0"/>
          </a:xfrm>
          <a:prstGeom prst="line">
            <a:avLst/>
          </a:prstGeom>
          <a:noFill/>
          <a:ln w="9525">
            <a:solidFill>
              <a:srgbClr val="D8DE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41324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Ariful Hassan Mehedi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63440" y="54132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24524203097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52360" y="3063240"/>
            <a:ext cx="4187952" cy="2834640"/>
          </a:xfrm>
          <a:prstGeom prst="roundRect">
            <a:avLst>
              <a:gd name="adj" fmla="val 3871"/>
            </a:avLst>
          </a:prstGeom>
          <a:solidFill>
            <a:srgbClr val="161C4D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0" y="33101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0" y="36576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M Shaharier Sazzad, PhD</a:t>
            </a:r>
            <a:endParaRPr lang="en-US" sz="16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Associate Professor, CSE, MIST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0" y="470916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Instructor: Fundamentals of Research Methodology, GREEM-3209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77272" y="-1645920"/>
            <a:ext cx="3657600" cy="3657600"/>
          </a:xfrm>
          <a:prstGeom prst="ellipse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F4F6FC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1993392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993392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83080" y="1691640"/>
            <a:ext cx="393192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355080" y="1691640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6611112" y="1993392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611112" y="1993392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498080" y="1691640"/>
            <a:ext cx="393192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264408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F4F6FC"/>
          </a:solidFill>
          <a:ln/>
        </p:spPr>
      </p:sp>
      <p:sp>
        <p:nvSpPr>
          <p:cNvPr id="14" name="Shape 12"/>
          <p:cNvSpPr/>
          <p:nvPr/>
        </p:nvSpPr>
        <p:spPr>
          <a:xfrm>
            <a:off x="896112" y="3566160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356616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783080" y="3264408"/>
            <a:ext cx="393192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Aims and Objectives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355080" y="3264408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F4F6FC"/>
          </a:solidFill>
          <a:ln/>
        </p:spPr>
      </p:sp>
      <p:sp>
        <p:nvSpPr>
          <p:cNvPr id="18" name="Shape 16"/>
          <p:cNvSpPr/>
          <p:nvPr/>
        </p:nvSpPr>
        <p:spPr>
          <a:xfrm>
            <a:off x="6611112" y="3566160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611112" y="356616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498080" y="3264408"/>
            <a:ext cx="393192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0080" y="4837176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F4F6FC"/>
          </a:solidFill>
          <a:ln/>
        </p:spPr>
      </p:sp>
      <p:sp>
        <p:nvSpPr>
          <p:cNvPr id="22" name="Shape 20"/>
          <p:cNvSpPr/>
          <p:nvPr/>
        </p:nvSpPr>
        <p:spPr>
          <a:xfrm>
            <a:off x="896112" y="5138928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" y="513892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783080" y="4837176"/>
            <a:ext cx="393192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355080" y="4837176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F4F6FC"/>
          </a:solidFill>
          <a:ln/>
        </p:spPr>
      </p:sp>
      <p:sp>
        <p:nvSpPr>
          <p:cNvPr id="26" name="Shape 24"/>
          <p:cNvSpPr/>
          <p:nvPr/>
        </p:nvSpPr>
        <p:spPr>
          <a:xfrm>
            <a:off x="6611112" y="5138928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6611112" y="513892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498080" y="4837176"/>
            <a:ext cx="393192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Sign Language Recognition System</a:t>
            </a:r>
            <a:endParaRPr lang="en-US" sz="1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438919D-B7F6-0D94-2585-395AB3C62C06}"/>
              </a:ext>
            </a:extLst>
          </p:cNvPr>
          <p:cNvSpPr txBox="1"/>
          <p:nvPr/>
        </p:nvSpPr>
        <p:spPr>
          <a:xfrm>
            <a:off x="9784375" y="3259197"/>
            <a:ext cx="2020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8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8F6725A-0673-5582-71C3-E001D83E109F}"/>
              </a:ext>
            </a:extLst>
          </p:cNvPr>
          <p:cNvSpPr txBox="1"/>
          <p:nvPr/>
        </p:nvSpPr>
        <p:spPr>
          <a:xfrm>
            <a:off x="9784375" y="3665138"/>
            <a:ext cx="2020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8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81A146E-92A3-944D-258D-5CD149F3A6E6}"/>
              </a:ext>
            </a:extLst>
          </p:cNvPr>
          <p:cNvSpPr txBox="1"/>
          <p:nvPr/>
        </p:nvSpPr>
        <p:spPr>
          <a:xfrm>
            <a:off x="9784375" y="4071080"/>
            <a:ext cx="2020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800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562B723-2EA1-43A3-CE08-FE68149C12DA}"/>
              </a:ext>
            </a:extLst>
          </p:cNvPr>
          <p:cNvCxnSpPr>
            <a:cxnSpLocks/>
          </p:cNvCxnSpPr>
          <p:nvPr/>
        </p:nvCxnSpPr>
        <p:spPr>
          <a:xfrm flipV="1">
            <a:off x="9330813" y="3474064"/>
            <a:ext cx="453562" cy="4745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8E50343-6162-7564-A53E-9E4598B7C0E0}"/>
              </a:ext>
            </a:extLst>
          </p:cNvPr>
          <p:cNvCxnSpPr>
            <a:cxnSpLocks/>
          </p:cNvCxnSpPr>
          <p:nvPr/>
        </p:nvCxnSpPr>
        <p:spPr>
          <a:xfrm flipV="1">
            <a:off x="9327175" y="3897638"/>
            <a:ext cx="457200" cy="417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0CF8102-AD12-C798-1B51-C375C153351C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9330813" y="3939425"/>
            <a:ext cx="453562" cy="3163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Bridging Deaf and Hearing Communication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309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between the Deaf community and hearing individuals is frequently limited by a shared-language gap, since American Sign Language (ASL) relies on hand shape, orientation, and motion rather than speech.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6309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Advances in deep learning, particularly Convolutional Neural Networks (CNNs) and hybrid CNN-LSTM architectures, have made it possible to automatically recognize sign gestures from images and video with high accuracy.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6309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reviews twelve recent studies on deep learning-based sign language recognition, examining the models, datasets, and techniques researchers use to build reliable, real-time ASL recognition systems.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78040" y="1600200"/>
            <a:ext cx="4480560" cy="4434840"/>
          </a:xfrm>
          <a:prstGeom prst="roundRect">
            <a:avLst>
              <a:gd name="adj" fmla="val 2474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0" y="19202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498080" y="26060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articles reviewed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0" y="33375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498080" y="40233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members, 3 papers each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98080" y="47548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/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498080" y="54406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deep learning architectures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Sign Language Recognition System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1512" y="4663440"/>
            <a:ext cx="4023360" cy="4023360"/>
          </a:xfrm>
          <a:prstGeom prst="ellipse">
            <a:avLst/>
          </a:prstGeom>
          <a:solidFill>
            <a:srgbClr val="5B7FDE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RESEARCH QUESTION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3291840"/>
          </a:xfrm>
          <a:prstGeom prst="roundRect">
            <a:avLst>
              <a:gd name="adj" fmla="val 3889"/>
            </a:avLst>
          </a:prstGeom>
          <a:solidFill>
            <a:srgbClr val="161C4D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286000"/>
            <a:ext cx="10149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deep learning models — such as CNNs, transfer learning architectures, and hybrid CNN-LSTM networks — be designed and optimized to achieve accurate, real-time recognition of the American Sign Language alphabet, in order to support effective communication between deaf and hearing individuals?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Sign Language Recognition System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AIMS AND 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Review Sets Out to 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0" y="160020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review and evaluate deep learning approaches used for American Sign Language recognition, and identify the techniques that most effectively support real-world communication.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4F6FC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3017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97180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Architectures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3355848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CNN, transfer-learning, and hybrid CNN-LSTM/attention models used across the reviewed studies.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278892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4F6FC"/>
          </a:solidFill>
          <a:ln/>
        </p:spPr>
      </p:sp>
      <p:sp>
        <p:nvSpPr>
          <p:cNvPr id="13" name="Shape 11"/>
          <p:cNvSpPr/>
          <p:nvPr/>
        </p:nvSpPr>
        <p:spPr>
          <a:xfrm>
            <a:off x="6492240" y="3017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32320" y="297180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Performance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32320" y="3355848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reported accuracy, datasets, and preprocessing techniques across the twelve articles.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4F6FC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4983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493776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Challenges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17320" y="5321808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recurring difficulties: occlusion, dynamic letters (J, Z), lighting, and signer independence.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475488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4F6FC"/>
          </a:solidFill>
          <a:ln/>
        </p:spPr>
      </p:sp>
      <p:sp>
        <p:nvSpPr>
          <p:cNvPr id="23" name="Shape 21"/>
          <p:cNvSpPr/>
          <p:nvPr/>
        </p:nvSpPr>
        <p:spPr>
          <a:xfrm>
            <a:off x="6492240" y="4983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32320" y="493776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Optimization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132320" y="5321808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data augmentation, multiview fusion, and hybrid optimizers used to boost accuracy.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Sign Language Recognition System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LITERATURE 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— Anika Zaman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508760"/>
            <a:ext cx="10735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Alsharif et al. (2023) — Sensors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94960" cy="1207008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947672"/>
            <a:ext cx="5065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7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" y="2167128"/>
            <a:ext cx="506577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and fine-tuned five deep learning architectures — AlexNet, ConvNeXt, EfficientNet, ResNet-50, and Vision Transformer — on 87,000+ ASL alphabet images, tuning architecture parameters and evaluating with accuracy, precision, recall, and F1-score.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874520"/>
            <a:ext cx="5394960" cy="1207008"/>
          </a:xfrm>
          <a:prstGeom prst="rect">
            <a:avLst/>
          </a:prstGeom>
          <a:solidFill>
            <a:srgbClr val="EFF3FC"/>
          </a:solidFill>
          <a:ln/>
        </p:spPr>
      </p:sp>
      <p:sp>
        <p:nvSpPr>
          <p:cNvPr id="10" name="Text 8"/>
          <p:cNvSpPr/>
          <p:nvPr/>
        </p:nvSpPr>
        <p:spPr>
          <a:xfrm>
            <a:off x="6382512" y="1947672"/>
            <a:ext cx="5065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7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82512" y="2167128"/>
            <a:ext cx="506577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achieved the top accuracy of 99.98%, followed by EfficientNet (99.95%), ConvNeXt (99.51%), and AlexNet (99.50%); Vision Transformer trailed at 88.59%. The authors conclude CNN-based transfer learning outperforms transformers at this dataset scale.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72968"/>
            <a:ext cx="11064240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3172968"/>
            <a:ext cx="10735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Tao, Leu &amp; Yin (2018) — Eng. Appl. of AI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38728"/>
            <a:ext cx="5394960" cy="1207008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3611880"/>
            <a:ext cx="5065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7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3232" y="3831336"/>
            <a:ext cx="506577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Kinect depth images, generated synthetic perspective views via 3D point-cloud rotation (multiview augmentation), and trained a CNN; at inference, predictions from multiple views were fused using an entropy-based confidence weight.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3538728"/>
            <a:ext cx="5394960" cy="1207008"/>
          </a:xfrm>
          <a:prstGeom prst="rect">
            <a:avLst/>
          </a:prstGeom>
          <a:solidFill>
            <a:srgbClr val="EFF3FC"/>
          </a:solidFill>
          <a:ln/>
        </p:spPr>
      </p:sp>
      <p:sp>
        <p:nvSpPr>
          <p:cNvPr id="18" name="Text 16"/>
          <p:cNvSpPr/>
          <p:nvPr/>
        </p:nvSpPr>
        <p:spPr>
          <a:xfrm>
            <a:off x="6382512" y="3611880"/>
            <a:ext cx="5065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7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82512" y="3831336"/>
            <a:ext cx="506577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Leave-one-out accuracy rose from 84.7% (baseline CNN) to 92.7% with augmentation + fusion, beating the prior best benchmark of 84.3%. Signs E, K, and Q remained hardest due to high signer-to-signer variation.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837176"/>
            <a:ext cx="11064240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4837176"/>
            <a:ext cx="10735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Ma, Xu &amp; Kim (2022) — Sensors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202936"/>
            <a:ext cx="5394960" cy="1207008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5276088"/>
            <a:ext cx="5065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7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" y="5495544"/>
            <a:ext cx="506577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Two-Stream Mixed (TSM) CNN taking two consecutive frames as dual input, fusing feature maps via addition and concatenation; tested across four backbones (LeNet, AlexNet, ResNet18, ResNet50) with and without the TSM block.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17920" y="5202936"/>
            <a:ext cx="5394960" cy="1207008"/>
          </a:xfrm>
          <a:prstGeom prst="rect">
            <a:avLst/>
          </a:prstGeom>
          <a:solidFill>
            <a:srgbClr val="EFF3FC"/>
          </a:solidFill>
          <a:ln/>
        </p:spPr>
      </p:sp>
      <p:sp>
        <p:nvSpPr>
          <p:cNvPr id="26" name="Text 24"/>
          <p:cNvSpPr/>
          <p:nvPr/>
        </p:nvSpPr>
        <p:spPr>
          <a:xfrm>
            <a:off x="6382512" y="5276088"/>
            <a:ext cx="5065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7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82512" y="5495544"/>
            <a:ext cx="506577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backbones improved with TSM; TSM-ResNet50 performed best overall at 97.57% accuracy. The authors conclude correlating consecutive frames is key to resolving the motion-dependent letters J and Z.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Sign Language Recognition System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LITERATURE 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— Dhruba Singh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508760"/>
            <a:ext cx="10735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IIETA (2023) — Revue d'Intelligence Artificielle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94960" cy="1207008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947672"/>
            <a:ext cx="5065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7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" y="2167128"/>
            <a:ext cx="506577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a CNN architecture that treats hand sign classification as an image recognition task, applying convolutional and pooling layers to extract discriminative shape and edge features ahead of a fully connected classification stage.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874520"/>
            <a:ext cx="5394960" cy="1207008"/>
          </a:xfrm>
          <a:prstGeom prst="rect">
            <a:avLst/>
          </a:prstGeom>
          <a:solidFill>
            <a:srgbClr val="EFF3FC"/>
          </a:solidFill>
          <a:ln/>
        </p:spPr>
      </p:sp>
      <p:sp>
        <p:nvSpPr>
          <p:cNvPr id="10" name="Text 8"/>
          <p:cNvSpPr/>
          <p:nvPr/>
        </p:nvSpPr>
        <p:spPr>
          <a:xfrm>
            <a:off x="6382512" y="1947672"/>
            <a:ext cx="5065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7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82512" y="2167128"/>
            <a:ext cx="506577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reliable classification of hand sign images; precise benchmark figures were not accessible from the open-access abstract, but the authors position CNNs as an effective, low-complexity approach for this task.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72968"/>
            <a:ext cx="11064240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3172968"/>
            <a:ext cx="10735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Sharma &amp; Singh (2021) — Expert Systems with Applications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38728"/>
            <a:ext cx="5394960" cy="1207008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3611880"/>
            <a:ext cx="5065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7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3232" y="3831336"/>
            <a:ext cx="506577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Presents a vision-based deep learning pipeline that processes RGB hand gesture images through convolutional feature extraction, aimed at improving robustness to real-world variation such as lighting and background clutter.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3538728"/>
            <a:ext cx="5394960" cy="1207008"/>
          </a:xfrm>
          <a:prstGeom prst="rect">
            <a:avLst/>
          </a:prstGeom>
          <a:solidFill>
            <a:srgbClr val="EFF3FC"/>
          </a:solidFill>
          <a:ln/>
        </p:spPr>
      </p:sp>
      <p:sp>
        <p:nvSpPr>
          <p:cNvPr id="18" name="Text 16"/>
          <p:cNvSpPr/>
          <p:nvPr/>
        </p:nvSpPr>
        <p:spPr>
          <a:xfrm>
            <a:off x="6382512" y="3611880"/>
            <a:ext cx="5065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7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82512" y="3831336"/>
            <a:ext cx="506577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improved recognition robustness over classical, handcrafted-feature approaches under varied imaging conditions — reinforcing that automatically learned CNN features generalize better than manually engineered ones.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837176"/>
            <a:ext cx="11064240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4837176"/>
            <a:ext cx="10735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Buckley &amp; Secco (2021) — IEEE COMPSAC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202936"/>
            <a:ext cx="5394960" cy="1207008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5276088"/>
            <a:ext cx="5065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7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" y="5495544"/>
            <a:ext cx="506577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Develops a CNN-based sign recognition system trained on a custom dataset covering both single-handed and double-handed gestures, extending typical one-handed alphabet pipelines to a broader gesture vocabulary.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5202936"/>
            <a:ext cx="5394960" cy="1207008"/>
          </a:xfrm>
          <a:prstGeom prst="rect">
            <a:avLst/>
          </a:prstGeom>
          <a:solidFill>
            <a:srgbClr val="EFF3FC"/>
          </a:solidFill>
          <a:ln/>
        </p:spPr>
      </p:sp>
      <p:sp>
        <p:nvSpPr>
          <p:cNvPr id="26" name="Text 24"/>
          <p:cNvSpPr/>
          <p:nvPr/>
        </p:nvSpPr>
        <p:spPr>
          <a:xfrm>
            <a:off x="6382512" y="5276088"/>
            <a:ext cx="5065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7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82512" y="5495544"/>
            <a:ext cx="506577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the CNN reliably classifies both single- and double-handed gesture categories, supporting the feasibility of extending alphabet-only systems toward broader sign vocabularies.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Sign Language Recognition System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LITERATURE 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— Faisal Mahmud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508760"/>
            <a:ext cx="10735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and Human Action Detection (2022) — Sensors / PMC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94960" cy="1207008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947672"/>
            <a:ext cx="5065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7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" y="2167128"/>
            <a:ext cx="506577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sign recognition as a case of the broader human action detection problem, applying deep neural network-based detection techniques to localize and classify hand and body gestures within image or video frames.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874520"/>
            <a:ext cx="5394960" cy="1207008"/>
          </a:xfrm>
          <a:prstGeom prst="rect">
            <a:avLst/>
          </a:prstGeom>
          <a:solidFill>
            <a:srgbClr val="EFF3FC"/>
          </a:solidFill>
          <a:ln/>
        </p:spPr>
      </p:sp>
      <p:sp>
        <p:nvSpPr>
          <p:cNvPr id="10" name="Text 8"/>
          <p:cNvSpPr/>
          <p:nvPr/>
        </p:nvSpPr>
        <p:spPr>
          <a:xfrm>
            <a:off x="6382512" y="1947672"/>
            <a:ext cx="5065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7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82512" y="2167128"/>
            <a:ext cx="506577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effective detection performance across sign and action classes, supporting the view that sign recognition can benefit from techniques developed for general human action detection.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72968"/>
            <a:ext cx="11064240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3172968"/>
            <a:ext cx="10735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Gesture Recognition &amp; World's Largest ASL Database (2023)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38728"/>
            <a:ext cx="5394960" cy="1207008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3611880"/>
            <a:ext cx="5065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7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3232" y="3831336"/>
            <a:ext cx="506577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Constructs and releases a large-scale ASL image database, then trains a CNN-based classifier on it to benchmark recognition performance and demonstrate the dataset's utility to the field.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3538728"/>
            <a:ext cx="5394960" cy="1207008"/>
          </a:xfrm>
          <a:prstGeom prst="rect">
            <a:avLst/>
          </a:prstGeom>
          <a:solidFill>
            <a:srgbClr val="EFF3FC"/>
          </a:solidFill>
          <a:ln/>
        </p:spPr>
      </p:sp>
      <p:sp>
        <p:nvSpPr>
          <p:cNvPr id="18" name="Text 16"/>
          <p:cNvSpPr/>
          <p:nvPr/>
        </p:nvSpPr>
        <p:spPr>
          <a:xfrm>
            <a:off x="6382512" y="3611880"/>
            <a:ext cx="5065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7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82512" y="3831336"/>
            <a:ext cx="506577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CNN classifier achieves strong recognition accuracy on the newly released database; the authors emphasize its scale as a resource for training more robust, generalizable future models.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837176"/>
            <a:ext cx="11064240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4837176"/>
            <a:ext cx="10735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JITEKI (2023)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202936"/>
            <a:ext cx="5394960" cy="1207008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5276088"/>
            <a:ext cx="5065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7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" y="5495544"/>
            <a:ext cx="506577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a seven-layer CNN on the 87,000-image ASL alphabet dataset (27 classes), applying background correction and resizing images to 32×32 px via bicubic interpolation, with a 75/25 train-validation split.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5202936"/>
            <a:ext cx="5394960" cy="1207008"/>
          </a:xfrm>
          <a:prstGeom prst="rect">
            <a:avLst/>
          </a:prstGeom>
          <a:solidFill>
            <a:srgbClr val="EFF3FC"/>
          </a:solidFill>
          <a:ln/>
        </p:spPr>
      </p:sp>
      <p:sp>
        <p:nvSpPr>
          <p:cNvPr id="26" name="Text 24"/>
          <p:cNvSpPr/>
          <p:nvPr/>
        </p:nvSpPr>
        <p:spPr>
          <a:xfrm>
            <a:off x="6382512" y="5276088"/>
            <a:ext cx="5065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7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82512" y="5495544"/>
            <a:ext cx="506577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about 99% accuracy, outperforming prior comparable studies; the authors attribute the gain specifically to background-correction preprocessing improving feature clarity.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Sign Language Recognition System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LITERATURE 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— Ariful Hassan Mehedi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508760"/>
            <a:ext cx="10735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Baihan et al. (2024) — Scientific Reports, Nature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94960" cy="1207008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947672"/>
            <a:ext cx="5065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7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" y="2167128"/>
            <a:ext cx="506577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spatial/geometric features via VGG16 and motion features via optical flow, feeding both into a CNNSa-LSTM model (CNN + Self-Attention + LSTM); hyperparameters tuned via a Hybrid Optimizer combining the Hippopotamus Optimization Algorithm and Pathfinder Algorithm.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874520"/>
            <a:ext cx="5394960" cy="1207008"/>
          </a:xfrm>
          <a:prstGeom prst="rect">
            <a:avLst/>
          </a:prstGeom>
          <a:solidFill>
            <a:srgbClr val="EFF3FC"/>
          </a:solidFill>
          <a:ln/>
        </p:spPr>
      </p:sp>
      <p:sp>
        <p:nvSpPr>
          <p:cNvPr id="10" name="Text 8"/>
          <p:cNvSpPr/>
          <p:nvPr/>
        </p:nvSpPr>
        <p:spPr>
          <a:xfrm>
            <a:off x="6382512" y="1947672"/>
            <a:ext cx="5065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7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82512" y="2167128"/>
            <a:ext cx="506577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98.7% accuracy, 98.2% sensitivity, and 98.5% precision, with low Word/Sign Error Rates (0.131 / 0.114) — the highest accuracy among compared models, showing the value of attention-based CNNs plus hybrid metaheuristic optimization.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72968"/>
            <a:ext cx="11064240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3172968"/>
            <a:ext cx="10735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Al-Qurishi, Khalid &amp; Souissi (2021) — IEEE Access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38728"/>
            <a:ext cx="5394960" cy="1207008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3611880"/>
            <a:ext cx="5065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7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3232" y="3831336"/>
            <a:ext cx="506577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Conducts a systematic literature survey of deep learning techniques applied to sign language recognition, cataloguing model families, benchmark datasets, and evaluation practices used across the field.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3538728"/>
            <a:ext cx="5394960" cy="1207008"/>
          </a:xfrm>
          <a:prstGeom prst="rect">
            <a:avLst/>
          </a:prstGeom>
          <a:solidFill>
            <a:srgbClr val="EFF3FC"/>
          </a:solidFill>
          <a:ln/>
        </p:spPr>
      </p:sp>
      <p:sp>
        <p:nvSpPr>
          <p:cNvPr id="18" name="Text 16"/>
          <p:cNvSpPr/>
          <p:nvPr/>
        </p:nvSpPr>
        <p:spPr>
          <a:xfrm>
            <a:off x="6382512" y="3611880"/>
            <a:ext cx="5065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7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82512" y="3831336"/>
            <a:ext cx="506577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open challenges — signer independence, continuous sentence-level recognition, real-time performance, and dataset scarcity — framing these as priority directions for future research.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837176"/>
            <a:ext cx="11064240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4837176"/>
            <a:ext cx="10735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Baihan et al. (2024) — companion citation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202936"/>
            <a:ext cx="5394960" cy="1207008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5276088"/>
            <a:ext cx="5065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7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" y="5495544"/>
            <a:ext cx="506577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CNNSa-LSTM + Hybrid Optimizer methodology as above; listed a second time in the source material as the complete bibliographic reference for this study.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5202936"/>
            <a:ext cx="5394960" cy="1207008"/>
          </a:xfrm>
          <a:prstGeom prst="rect">
            <a:avLst/>
          </a:prstGeom>
          <a:solidFill>
            <a:srgbClr val="EFF3FC"/>
          </a:solidFill>
          <a:ln/>
        </p:spPr>
      </p:sp>
      <p:sp>
        <p:nvSpPr>
          <p:cNvPr id="26" name="Text 24"/>
          <p:cNvSpPr/>
          <p:nvPr/>
        </p:nvSpPr>
        <p:spPr>
          <a:xfrm>
            <a:off x="6382512" y="5276088"/>
            <a:ext cx="5065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7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82512" y="5495544"/>
            <a:ext cx="506577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Reinforces the same reported results (98.7% accuracy), confirming this paper's role as this member's primary reviewed article on hybrid-optimized sign language recognition.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Sign Language Recognition System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DATA COLLECTION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Reviewed Studies Gathered Data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twelve reviewed articles, two broad data collection strategies stand out: large static-image datasets for alphabet recognition, and depth/video datasets for capturing motion and continuous signing.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64240" cy="603504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840"/>
            <a:ext cx="2743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520440" y="2148840"/>
            <a:ext cx="5577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098280" y="2148840"/>
            <a:ext cx="2743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Studies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52344"/>
            <a:ext cx="11064240" cy="603504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752344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ASL alphabet images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20440" y="2752344"/>
            <a:ext cx="5440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87,000-image Kaggle-style dataset (27 classes × 3,000 images, 200×200 px)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098280" y="2752344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Alsharif et al. (2023); JITEKI (2023)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355848"/>
            <a:ext cx="11064240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35584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/ multiview images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0440" y="3355848"/>
            <a:ext cx="5440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Kinect depth captures with synthetic multiview augmentation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098280" y="335584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Tao, Leu &amp; Yin (2018)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959352"/>
            <a:ext cx="11064240" cy="603504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959352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video frames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20440" y="3959352"/>
            <a:ext cx="5440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 RGB frame pairs to capture motion for dynamic letters (J, Z)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098280" y="3959352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Ma, Xu &amp; Kim (2022)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562856"/>
            <a:ext cx="11064240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562856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signing video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20440" y="4562856"/>
            <a:ext cx="5440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video with VGG16 spatial features + optical-flow motion features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098280" y="4562856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Baihan et al. (2024)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166360"/>
            <a:ext cx="11064240" cy="603504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166360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custom database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520440" y="5166360"/>
            <a:ext cx="5440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large ASL image database released alongside the study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098280" y="5166360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Gesture Recognition (2023)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Sign Language Recognition System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REFERENCES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Reviewed Articles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Alsharif, B., Altaher, A. S., Altaher, A., Ilyas, M., &amp; Alalwany, E. (2023). Deep learning technology to recognize American Sign Language alphabet. Sensors, 23(18), 7970.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2395728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395728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Tao, W., Leu, M. C., &amp; Yin, Z. (2018). American Sign Language alphabet recognition using CNNs with multiview augmentation and inference fusion. Eng. Appl. of AI, 76, 202–213.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3236976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3236976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Ma, Y., Xu, T., &amp; Kim, K. (2022). Two-stream mixed convolutional neural network for American Sign Language recognition. Sensors, 22(16), 5959.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4078224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4078224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learning-based approach for hand sign recognition using CNN architecture. (2023). Revue d'Intelligence Artificielle (IIETA).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4919472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4919472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Sharma, S., &amp; Singh, S. (2021). Vision-based hand gesture recognition using deep learning for the interpretation of sign language. Expert Systems with Applications.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576072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" y="5760720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Buckley, N., &amp; Secco, E. L. (2021). A CNN sign language recognition system with single &amp; double-handed gestures. IEEE COMPSAC.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63640" y="155448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629400" y="1554480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and human action detection using deep learning. (2022). Sensors / PMC.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63640" y="2395728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629400" y="2395728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gesture recognition using CNN &amp; publication of world's largest ASL database. (2023).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63640" y="3236976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629400" y="3236976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approach for sign language recognition. (2023). Jurnal Ilmiah Teknik Elektro Komputer dan Informatika (JITEKI), 9(1).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63640" y="4078224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629400" y="4078224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Baihan, A., Alutaibi, A. I., Alshehri, M., &amp; Sharma, S. K. (2024). Sign language recognition using modified deep learning network and hybrid optimization: CNNSa-LSTM approach. Scientific Reports, 14, 26111.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63640" y="4919472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29400" y="4919472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Al-Qurishi, M., Khalid, T., &amp; Souissi, R. (2021). Deep learning for sign language recognition: Current techniques, benchmarks, and open issues. IEEE Access, 9, 126917–126951.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63640" y="576072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629400" y="5760720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language recognition using modified deep learning network and hybrid optimization (companion reference). (2024). Scientific Reports, Nature.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Sign Language Recognition System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2007</Words>
  <Application>Microsoft Office PowerPoint</Application>
  <PresentationFormat>Widescreen</PresentationFormat>
  <Paragraphs>208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Dhruba</cp:lastModifiedBy>
  <cp:revision>2</cp:revision>
  <dcterms:created xsi:type="dcterms:W3CDTF">2026-08-29T05:21:21Z</dcterms:created>
  <dcterms:modified xsi:type="dcterms:W3CDTF">2026-08-29T05:31:14Z</dcterms:modified>
</cp:coreProperties>
</file>